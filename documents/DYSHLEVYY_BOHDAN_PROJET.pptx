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Helvetica World Bold" charset="1" panose="020B0800040000020004"/>
      <p:regular r:id="rId20"/>
    </p:embeddedFont>
    <p:embeddedFont>
      <p:font typeface="Canva Sans" charset="1" panose="020B0503030501040103"/>
      <p:regular r:id="rId21"/>
    </p:embeddedFont>
    <p:embeddedFont>
      <p:font typeface="Canva Sans Bold" charset="1" panose="020B0803030501040103"/>
      <p:regular r:id="rId22"/>
    </p:embeddedFont>
    <p:embeddedFont>
      <p:font typeface="Helvetica World" charset="1" panose="020B05000400000200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https://github.com/nokkster/gitops-argocd-demo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3850185" y="1028700"/>
            <a:ext cx="3652820" cy="9258300"/>
          </a:xfrm>
          <a:custGeom>
            <a:avLst/>
            <a:gdLst/>
            <a:ahLst/>
            <a:cxnLst/>
            <a:rect r="r" b="b" t="t" l="l"/>
            <a:pathLst>
              <a:path h="9258300" w="3652820">
                <a:moveTo>
                  <a:pt x="3652820" y="0"/>
                </a:moveTo>
                <a:lnTo>
                  <a:pt x="0" y="0"/>
                </a:lnTo>
                <a:lnTo>
                  <a:pt x="0" y="9258300"/>
                </a:lnTo>
                <a:lnTo>
                  <a:pt x="3652820" y="9258300"/>
                </a:lnTo>
                <a:lnTo>
                  <a:pt x="365282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369730" y="1028700"/>
            <a:ext cx="14666437" cy="9258300"/>
            <a:chOff x="0" y="0"/>
            <a:chExt cx="3542301" cy="22361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42301" cy="2236104"/>
            </a:xfrm>
            <a:custGeom>
              <a:avLst/>
              <a:gdLst/>
              <a:ahLst/>
              <a:cxnLst/>
              <a:rect r="r" b="b" t="t" l="l"/>
              <a:pathLst>
                <a:path h="2236104" w="3542301">
                  <a:moveTo>
                    <a:pt x="52787" y="0"/>
                  </a:moveTo>
                  <a:lnTo>
                    <a:pt x="3489514" y="0"/>
                  </a:lnTo>
                  <a:cubicBezTo>
                    <a:pt x="3518667" y="0"/>
                    <a:pt x="3542301" y="23633"/>
                    <a:pt x="3542301" y="52787"/>
                  </a:cubicBezTo>
                  <a:lnTo>
                    <a:pt x="3542301" y="2183318"/>
                  </a:lnTo>
                  <a:cubicBezTo>
                    <a:pt x="3542301" y="2212471"/>
                    <a:pt x="3518667" y="2236104"/>
                    <a:pt x="3489514" y="2236104"/>
                  </a:cubicBezTo>
                  <a:lnTo>
                    <a:pt x="52787" y="2236104"/>
                  </a:lnTo>
                  <a:cubicBezTo>
                    <a:pt x="23633" y="2236104"/>
                    <a:pt x="0" y="2212471"/>
                    <a:pt x="0" y="2183318"/>
                  </a:cubicBezTo>
                  <a:lnTo>
                    <a:pt x="0" y="52787"/>
                  </a:lnTo>
                  <a:cubicBezTo>
                    <a:pt x="0" y="23633"/>
                    <a:pt x="23633" y="0"/>
                    <a:pt x="52787" y="0"/>
                  </a:cubicBezTo>
                  <a:close/>
                </a:path>
              </a:pathLst>
            </a:custGeom>
            <a:solidFill>
              <a:srgbClr val="326BE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542301" cy="2293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544041" y="6392152"/>
            <a:ext cx="11681887" cy="684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1"/>
              </a:lnSpc>
            </a:pPr>
            <a:r>
              <a:rPr lang="en-US" b="true" sz="29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PROJET DE RECHERCHE - ÉCOSYSTÈME KUBERNETES &amp; GITOPS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5369766" y="4539237"/>
            <a:ext cx="11876935" cy="20773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>
            <a:off x="17225928" y="1028700"/>
            <a:ext cx="0" cy="1051269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784427" y="1149325"/>
            <a:ext cx="2334547" cy="2270347"/>
          </a:xfrm>
          <a:custGeom>
            <a:avLst/>
            <a:gdLst/>
            <a:ahLst/>
            <a:cxnLst/>
            <a:rect r="r" b="b" t="t" l="l"/>
            <a:pathLst>
              <a:path h="2270347" w="2334547">
                <a:moveTo>
                  <a:pt x="0" y="0"/>
                </a:moveTo>
                <a:lnTo>
                  <a:pt x="2334546" y="0"/>
                </a:lnTo>
                <a:lnTo>
                  <a:pt x="2334546" y="2270347"/>
                </a:lnTo>
                <a:lnTo>
                  <a:pt x="0" y="22703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784427" y="8732488"/>
            <a:ext cx="1987445" cy="512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60"/>
              </a:lnSpc>
            </a:pPr>
            <a:r>
              <a:rPr lang="en-US" sz="30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JUIN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589241"/>
            <a:ext cx="4270132" cy="165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BOHDAN DYSHLEVYY</a:t>
            </a:r>
          </a:p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BUT3A RÉSEAUX &amp; TÉLÉCOMMUNICATIONS</a:t>
            </a:r>
          </a:p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UNIVERSITÉ CÔTE D'AZUR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37087" y="4798135"/>
            <a:ext cx="11681887" cy="144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0"/>
              </a:lnSpc>
            </a:pPr>
            <a:r>
              <a:rPr lang="en-US" b="true" sz="600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GITOPS AVEC ARGOCD DANS KUBERNETES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882757" y="961592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92417" y="978134"/>
            <a:ext cx="20072834" cy="9308866"/>
            <a:chOff x="0" y="0"/>
            <a:chExt cx="4848077" cy="22483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8077" cy="2248317"/>
            </a:xfrm>
            <a:custGeom>
              <a:avLst/>
              <a:gdLst/>
              <a:ahLst/>
              <a:cxnLst/>
              <a:rect r="r" b="b" t="t" l="l"/>
              <a:pathLst>
                <a:path h="2248317" w="4848077">
                  <a:moveTo>
                    <a:pt x="38569" y="0"/>
                  </a:moveTo>
                  <a:lnTo>
                    <a:pt x="4809508" y="0"/>
                  </a:lnTo>
                  <a:cubicBezTo>
                    <a:pt x="4830809" y="0"/>
                    <a:pt x="4848077" y="17268"/>
                    <a:pt x="4848077" y="38569"/>
                  </a:cubicBezTo>
                  <a:lnTo>
                    <a:pt x="4848077" y="2209748"/>
                  </a:lnTo>
                  <a:cubicBezTo>
                    <a:pt x="4848077" y="2219977"/>
                    <a:pt x="4844014" y="2229788"/>
                    <a:pt x="4836781" y="2237021"/>
                  </a:cubicBezTo>
                  <a:cubicBezTo>
                    <a:pt x="4829547" y="2244254"/>
                    <a:pt x="4819737" y="2248317"/>
                    <a:pt x="4809508" y="2248317"/>
                  </a:cubicBezTo>
                  <a:lnTo>
                    <a:pt x="38569" y="2248317"/>
                  </a:lnTo>
                  <a:cubicBezTo>
                    <a:pt x="28340" y="2248317"/>
                    <a:pt x="18530" y="2244254"/>
                    <a:pt x="11297" y="2237021"/>
                  </a:cubicBezTo>
                  <a:cubicBezTo>
                    <a:pt x="4064" y="2229788"/>
                    <a:pt x="0" y="2219977"/>
                    <a:pt x="0" y="2209748"/>
                  </a:cubicBezTo>
                  <a:lnTo>
                    <a:pt x="0" y="38569"/>
                  </a:lnTo>
                  <a:cubicBezTo>
                    <a:pt x="0" y="17268"/>
                    <a:pt x="17268" y="0"/>
                    <a:pt x="38569" y="0"/>
                  </a:cubicBezTo>
                  <a:close/>
                </a:path>
              </a:pathLst>
            </a:custGeom>
            <a:solidFill>
              <a:srgbClr val="326B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48077" cy="230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194538"/>
            <a:ext cx="9724734" cy="1349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1"/>
              </a:lnSpc>
            </a:pPr>
            <a:r>
              <a:rPr lang="en-US" sz="11354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CONTEXTE</a:t>
            </a:r>
          </a:p>
        </p:txBody>
      </p:sp>
      <p:sp>
        <p:nvSpPr>
          <p:cNvPr name="AutoShape 6" id="6"/>
          <p:cNvSpPr/>
          <p:nvPr/>
        </p:nvSpPr>
        <p:spPr>
          <a:xfrm>
            <a:off x="-421430" y="4723312"/>
            <a:ext cx="1906218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28700" y="8071005"/>
            <a:ext cx="16230600" cy="101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7"/>
              </a:lnSpc>
            </a:pPr>
            <a:r>
              <a:rPr lang="en-US" sz="294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Pour répondre à ces problématiques, l'approche GitOps est apparue comme une solution d'automatisation basée sur Git.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105400"/>
            <a:ext cx="7878132" cy="1234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Les applications modernes sont aujourd'hui majoritairement déployées sur</a:t>
            </a:r>
            <a:r>
              <a:rPr lang="en-US" b="true" sz="2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des plateformes cloud utilisant Kubernetes.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331075"/>
            <a:ext cx="4488337" cy="69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7"/>
              </a:lnSpc>
            </a:pPr>
            <a:r>
              <a:rPr lang="en-US" sz="3841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SOLUTION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81168" y="5105400"/>
            <a:ext cx="7878132" cy="2910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Cependant, la gestion manuelle des déploiements peut entraîner :</a:t>
            </a:r>
          </a:p>
          <a:p>
            <a:pPr algn="just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des erreurs humaines</a:t>
            </a:r>
          </a:p>
          <a:p>
            <a:pPr algn="just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 manque de</a:t>
            </a: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traçabilité</a:t>
            </a:r>
          </a:p>
          <a:p>
            <a:pPr algn="just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des difficultés lors des mises à jour</a:t>
            </a:r>
          </a:p>
          <a:p>
            <a:pPr algn="just" marL="518155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des retours arrière complexes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AutoShape 11" id="11"/>
          <p:cNvSpPr/>
          <p:nvPr/>
        </p:nvSpPr>
        <p:spPr>
          <a:xfrm>
            <a:off x="-774180" y="9350057"/>
            <a:ext cx="1906218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4546383" y="1861163"/>
            <a:ext cx="2712917" cy="2638312"/>
          </a:xfrm>
          <a:custGeom>
            <a:avLst/>
            <a:gdLst/>
            <a:ahLst/>
            <a:cxnLst/>
            <a:rect r="r" b="b" t="t" l="l"/>
            <a:pathLst>
              <a:path h="2638312" w="2712917">
                <a:moveTo>
                  <a:pt x="0" y="0"/>
                </a:moveTo>
                <a:lnTo>
                  <a:pt x="2712917" y="0"/>
                </a:lnTo>
                <a:lnTo>
                  <a:pt x="2712917" y="2638311"/>
                </a:lnTo>
                <a:lnTo>
                  <a:pt x="0" y="26383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882757" y="961592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17924"/>
            <a:ext cx="18288000" cy="2922651"/>
            <a:chOff x="0" y="0"/>
            <a:chExt cx="4416996" cy="7058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6996" cy="705891"/>
            </a:xfrm>
            <a:custGeom>
              <a:avLst/>
              <a:gdLst/>
              <a:ahLst/>
              <a:cxnLst/>
              <a:rect r="r" b="b" t="t" l="l"/>
              <a:pathLst>
                <a:path h="705891" w="4416996">
                  <a:moveTo>
                    <a:pt x="42333" y="0"/>
                  </a:moveTo>
                  <a:lnTo>
                    <a:pt x="4374663" y="0"/>
                  </a:lnTo>
                  <a:cubicBezTo>
                    <a:pt x="4385890" y="0"/>
                    <a:pt x="4396658" y="4460"/>
                    <a:pt x="4404597" y="12399"/>
                  </a:cubicBezTo>
                  <a:cubicBezTo>
                    <a:pt x="4412536" y="20338"/>
                    <a:pt x="4416996" y="31106"/>
                    <a:pt x="4416996" y="42333"/>
                  </a:cubicBezTo>
                  <a:lnTo>
                    <a:pt x="4416996" y="663558"/>
                  </a:lnTo>
                  <a:cubicBezTo>
                    <a:pt x="4416996" y="674785"/>
                    <a:pt x="4412536" y="685553"/>
                    <a:pt x="4404597" y="693492"/>
                  </a:cubicBezTo>
                  <a:cubicBezTo>
                    <a:pt x="4396658" y="701431"/>
                    <a:pt x="4385890" y="705891"/>
                    <a:pt x="4374663" y="705891"/>
                  </a:cubicBezTo>
                  <a:lnTo>
                    <a:pt x="42333" y="705891"/>
                  </a:lnTo>
                  <a:cubicBezTo>
                    <a:pt x="31106" y="705891"/>
                    <a:pt x="20338" y="701431"/>
                    <a:pt x="12399" y="693492"/>
                  </a:cubicBezTo>
                  <a:cubicBezTo>
                    <a:pt x="4460" y="685553"/>
                    <a:pt x="0" y="674785"/>
                    <a:pt x="0" y="663558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326B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416996" cy="763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774180" y="8859777"/>
            <a:ext cx="19062180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725448" y="1458241"/>
            <a:ext cx="14721118" cy="1003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20"/>
              </a:lnSpc>
            </a:pPr>
            <a:r>
              <a:rPr lang="en-US" sz="90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QU'EST-CE QUE GITOPS 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831125"/>
            <a:ext cx="4488337" cy="69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7"/>
              </a:lnSpc>
            </a:pPr>
            <a:r>
              <a:rPr lang="en-US" sz="384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DÉF</a:t>
            </a:r>
            <a:r>
              <a:rPr lang="en-US" sz="384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INITION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81168" y="3831125"/>
            <a:ext cx="4488337" cy="69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7"/>
              </a:lnSpc>
            </a:pPr>
            <a:r>
              <a:rPr lang="en-US" sz="384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</a:t>
            </a:r>
            <a:r>
              <a:rPr lang="en-US" sz="384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INCIPES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813483"/>
            <a:ext cx="7705871" cy="2454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itOps est une méthode de gestion d'infrastructure dans laquelle Git devient la source de vérité du système.</a:t>
            </a:r>
          </a:p>
          <a:p>
            <a:pPr algn="just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Toute modification de l'infrastructure ou des applications est réalisée dans un dépôt Git.</a:t>
            </a:r>
          </a:p>
          <a:p>
            <a:pPr algn="just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Les changements sont automatiquement appliqués au cluster Kubernetes.</a:t>
            </a:r>
          </a:p>
          <a:p>
            <a:pPr algn="just">
              <a:lnSpc>
                <a:spcPts val="27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381168" y="4803958"/>
            <a:ext cx="7878132" cy="211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Inf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rastructure as Code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Gestion par Git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Déploiement automat</a:t>
            </a: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isé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Historique complet des changements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Rollback simplifié</a:t>
            </a:r>
          </a:p>
          <a:p>
            <a:pPr algn="just">
              <a:lnSpc>
                <a:spcPts val="2800"/>
              </a:lnSpc>
            </a:pP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446566" y="460093"/>
            <a:ext cx="2712917" cy="2638312"/>
          </a:xfrm>
          <a:custGeom>
            <a:avLst/>
            <a:gdLst/>
            <a:ahLst/>
            <a:cxnLst/>
            <a:rect r="r" b="b" t="t" l="l"/>
            <a:pathLst>
              <a:path h="2638312" w="2712917">
                <a:moveTo>
                  <a:pt x="0" y="0"/>
                </a:moveTo>
                <a:lnTo>
                  <a:pt x="2712917" y="0"/>
                </a:lnTo>
                <a:lnTo>
                  <a:pt x="2712917" y="2638312"/>
                </a:lnTo>
                <a:lnTo>
                  <a:pt x="0" y="26383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882757" y="961592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92417" y="978134"/>
            <a:ext cx="20072834" cy="9308866"/>
            <a:chOff x="0" y="0"/>
            <a:chExt cx="4848077" cy="22483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8077" cy="2248317"/>
            </a:xfrm>
            <a:custGeom>
              <a:avLst/>
              <a:gdLst/>
              <a:ahLst/>
              <a:cxnLst/>
              <a:rect r="r" b="b" t="t" l="l"/>
              <a:pathLst>
                <a:path h="2248317" w="4848077">
                  <a:moveTo>
                    <a:pt x="38569" y="0"/>
                  </a:moveTo>
                  <a:lnTo>
                    <a:pt x="4809508" y="0"/>
                  </a:lnTo>
                  <a:cubicBezTo>
                    <a:pt x="4830809" y="0"/>
                    <a:pt x="4848077" y="17268"/>
                    <a:pt x="4848077" y="38569"/>
                  </a:cubicBezTo>
                  <a:lnTo>
                    <a:pt x="4848077" y="2209748"/>
                  </a:lnTo>
                  <a:cubicBezTo>
                    <a:pt x="4848077" y="2219977"/>
                    <a:pt x="4844014" y="2229788"/>
                    <a:pt x="4836781" y="2237021"/>
                  </a:cubicBezTo>
                  <a:cubicBezTo>
                    <a:pt x="4829547" y="2244254"/>
                    <a:pt x="4819737" y="2248317"/>
                    <a:pt x="4809508" y="2248317"/>
                  </a:cubicBezTo>
                  <a:lnTo>
                    <a:pt x="38569" y="2248317"/>
                  </a:lnTo>
                  <a:cubicBezTo>
                    <a:pt x="28340" y="2248317"/>
                    <a:pt x="18530" y="2244254"/>
                    <a:pt x="11297" y="2237021"/>
                  </a:cubicBezTo>
                  <a:cubicBezTo>
                    <a:pt x="4064" y="2229788"/>
                    <a:pt x="0" y="2219977"/>
                    <a:pt x="0" y="2209748"/>
                  </a:cubicBezTo>
                  <a:lnTo>
                    <a:pt x="0" y="38569"/>
                  </a:lnTo>
                  <a:cubicBezTo>
                    <a:pt x="0" y="17268"/>
                    <a:pt x="17268" y="0"/>
                    <a:pt x="38569" y="0"/>
                  </a:cubicBezTo>
                  <a:close/>
                </a:path>
              </a:pathLst>
            </a:custGeom>
            <a:solidFill>
              <a:srgbClr val="EE784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48077" cy="230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194538"/>
            <a:ext cx="12605132" cy="2525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1"/>
              </a:lnSpc>
            </a:pPr>
            <a:r>
              <a:rPr lang="en-US" sz="11354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PRÉSENTATION D'ARGOCD</a:t>
            </a:r>
          </a:p>
        </p:txBody>
      </p:sp>
      <p:sp>
        <p:nvSpPr>
          <p:cNvPr name="AutoShape 6" id="6"/>
          <p:cNvSpPr/>
          <p:nvPr/>
        </p:nvSpPr>
        <p:spPr>
          <a:xfrm>
            <a:off x="-421430" y="4723312"/>
            <a:ext cx="1906218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634225" y="1878234"/>
            <a:ext cx="2625075" cy="2625075"/>
          </a:xfrm>
          <a:custGeom>
            <a:avLst/>
            <a:gdLst/>
            <a:ahLst/>
            <a:cxnLst/>
            <a:rect r="r" b="b" t="t" l="l"/>
            <a:pathLst>
              <a:path h="2625075" w="2625075">
                <a:moveTo>
                  <a:pt x="0" y="0"/>
                </a:moveTo>
                <a:lnTo>
                  <a:pt x="2625075" y="0"/>
                </a:lnTo>
                <a:lnTo>
                  <a:pt x="2625075" y="2625076"/>
                </a:lnTo>
                <a:lnTo>
                  <a:pt x="0" y="26250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5690099"/>
            <a:ext cx="7878132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ArgoCD est un outil Open Source de Continuous Delivery pour Kubernetes.</a:t>
            </a:r>
          </a:p>
          <a:p>
            <a:pPr algn="just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Il surveille un dépôt Git et synchroni</a:t>
            </a: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 automatiquement l'état du cluster Kubernetes avec le contenu du dépôt.</a:t>
            </a:r>
          </a:p>
          <a:p>
            <a:pPr algn="just">
              <a:lnSpc>
                <a:spcPts val="27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116900"/>
            <a:ext cx="4877751" cy="69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7"/>
              </a:lnSpc>
            </a:pPr>
            <a:r>
              <a:rPr lang="en-US" sz="3841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FONCTIONNALITÉS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872200"/>
            <a:ext cx="7878132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Synchronisation au</a:t>
            </a: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tomatique</a:t>
            </a:r>
          </a:p>
          <a:p>
            <a:pPr algn="just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Déploiement continu</a:t>
            </a:r>
          </a:p>
          <a:p>
            <a:pPr algn="just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Rollback</a:t>
            </a:r>
          </a:p>
          <a:p>
            <a:pPr algn="just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estion déclarative</a:t>
            </a:r>
          </a:p>
          <a:p>
            <a:pPr algn="just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Interface graphique</a:t>
            </a:r>
          </a:p>
          <a:p>
            <a:pPr algn="just">
              <a:lnSpc>
                <a:spcPts val="279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934799"/>
            <a:ext cx="4877751" cy="69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7"/>
              </a:lnSpc>
            </a:pPr>
            <a:r>
              <a:rPr lang="en-US" sz="3841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ARGOCD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144000" y="5458013"/>
            <a:ext cx="8521386" cy="4313952"/>
          </a:xfrm>
          <a:custGeom>
            <a:avLst/>
            <a:gdLst/>
            <a:ahLst/>
            <a:cxnLst/>
            <a:rect r="r" b="b" t="t" l="l"/>
            <a:pathLst>
              <a:path h="4313952" w="8521386">
                <a:moveTo>
                  <a:pt x="0" y="0"/>
                </a:moveTo>
                <a:lnTo>
                  <a:pt x="8521386" y="0"/>
                </a:lnTo>
                <a:lnTo>
                  <a:pt x="8521386" y="4313951"/>
                </a:lnTo>
                <a:lnTo>
                  <a:pt x="0" y="43139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882757" y="961592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362075"/>
            <a:ext cx="13606978" cy="229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9"/>
              </a:lnSpc>
            </a:pPr>
            <a:r>
              <a:rPr lang="en-US" sz="9243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FONCTIONNEMENT GLOBAL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675815" y="296405"/>
            <a:ext cx="4864041" cy="9694190"/>
            <a:chOff x="0" y="0"/>
            <a:chExt cx="6485388" cy="1292558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2870903" y="629352"/>
              <a:ext cx="743581" cy="1260511"/>
              <a:chOff x="0" y="0"/>
              <a:chExt cx="479475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7947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479475">
                    <a:moveTo>
                      <a:pt x="239737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276275" y="0"/>
                    </a:lnTo>
                    <a:lnTo>
                      <a:pt x="276275" y="406400"/>
                    </a:lnTo>
                    <a:lnTo>
                      <a:pt x="479475" y="406400"/>
                    </a:lnTo>
                    <a:lnTo>
                      <a:pt x="239737" y="812800"/>
                    </a:lnTo>
                    <a:close/>
                  </a:path>
                </a:pathLst>
              </a:custGeom>
              <a:solidFill>
                <a:srgbClr val="326BE4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203200" y="-57150"/>
                <a:ext cx="73075" cy="768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4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6485388" cy="129732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44"/>
                </a:lnSpc>
                <a:spcBef>
                  <a:spcPct val="0"/>
                </a:spcBef>
              </a:pPr>
              <a:r>
                <a:rPr lang="en-US" b="true" sz="274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Développeur</a:t>
              </a:r>
            </a:p>
            <a:p>
              <a:pPr algn="ctr">
                <a:lnSpc>
                  <a:spcPts val="3844"/>
                </a:lnSpc>
                <a:spcBef>
                  <a:spcPct val="0"/>
                </a:spcBef>
              </a:pPr>
              <a:r>
                <a:rPr lang="en-US" b="true" sz="274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</a:t>
              </a:r>
            </a:p>
            <a:p>
              <a:pPr algn="ctr">
                <a:lnSpc>
                  <a:spcPts val="3844"/>
                </a:lnSpc>
                <a:spcBef>
                  <a:spcPct val="0"/>
                </a:spcBef>
              </a:pPr>
            </a:p>
            <a:p>
              <a:pPr algn="ctr">
                <a:lnSpc>
                  <a:spcPts val="3844"/>
                </a:lnSpc>
                <a:spcBef>
                  <a:spcPct val="0"/>
                </a:spcBef>
              </a:pPr>
              <a:r>
                <a:rPr lang="en-US" b="true" sz="274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GitHub</a:t>
              </a:r>
            </a:p>
            <a:p>
              <a:pPr algn="ctr">
                <a:lnSpc>
                  <a:spcPts val="3844"/>
                </a:lnSpc>
                <a:spcBef>
                  <a:spcPct val="0"/>
                </a:spcBef>
              </a:pPr>
              <a:r>
                <a:rPr lang="en-US" b="true" sz="274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</a:t>
              </a:r>
            </a:p>
            <a:p>
              <a:pPr algn="ctr">
                <a:lnSpc>
                  <a:spcPts val="3844"/>
                </a:lnSpc>
                <a:spcBef>
                  <a:spcPct val="0"/>
                </a:spcBef>
              </a:pPr>
            </a:p>
            <a:p>
              <a:pPr algn="ctr">
                <a:lnSpc>
                  <a:spcPts val="3844"/>
                </a:lnSpc>
                <a:spcBef>
                  <a:spcPct val="0"/>
                </a:spcBef>
              </a:pPr>
              <a:r>
                <a:rPr lang="en-US" b="true" sz="274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GitHub Actions</a:t>
              </a:r>
            </a:p>
            <a:p>
              <a:pPr algn="ctr">
                <a:lnSpc>
                  <a:spcPts val="3844"/>
                </a:lnSpc>
                <a:spcBef>
                  <a:spcPct val="0"/>
                </a:spcBef>
              </a:pPr>
              <a:r>
                <a:rPr lang="en-US" b="true" sz="274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(Validation CI)</a:t>
              </a:r>
            </a:p>
            <a:p>
              <a:pPr algn="ctr">
                <a:lnSpc>
                  <a:spcPts val="3844"/>
                </a:lnSpc>
                <a:spcBef>
                  <a:spcPct val="0"/>
                </a:spcBef>
              </a:pPr>
              <a:r>
                <a:rPr lang="en-US" b="true" sz="274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</a:t>
              </a:r>
            </a:p>
            <a:p>
              <a:pPr algn="ctr">
                <a:lnSpc>
                  <a:spcPts val="3844"/>
                </a:lnSpc>
                <a:spcBef>
                  <a:spcPct val="0"/>
                </a:spcBef>
              </a:pPr>
            </a:p>
            <a:p>
              <a:pPr algn="ctr">
                <a:lnSpc>
                  <a:spcPts val="3844"/>
                </a:lnSpc>
                <a:spcBef>
                  <a:spcPct val="0"/>
                </a:spcBef>
              </a:pPr>
              <a:r>
                <a:rPr lang="en-US" b="true" sz="274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ArgoCD</a:t>
              </a:r>
            </a:p>
            <a:p>
              <a:pPr algn="ctr">
                <a:lnSpc>
                  <a:spcPts val="3844"/>
                </a:lnSpc>
                <a:spcBef>
                  <a:spcPct val="0"/>
                </a:spcBef>
              </a:pPr>
              <a:r>
                <a:rPr lang="en-US" b="true" sz="274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</a:t>
              </a:r>
            </a:p>
            <a:p>
              <a:pPr algn="ctr">
                <a:lnSpc>
                  <a:spcPts val="3844"/>
                </a:lnSpc>
                <a:spcBef>
                  <a:spcPct val="0"/>
                </a:spcBef>
              </a:pPr>
            </a:p>
            <a:p>
              <a:pPr algn="ctr">
                <a:lnSpc>
                  <a:spcPts val="3844"/>
                </a:lnSpc>
                <a:spcBef>
                  <a:spcPct val="0"/>
                </a:spcBef>
              </a:pPr>
              <a:r>
                <a:rPr lang="en-US" b="true" sz="274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Kubernetes</a:t>
              </a:r>
            </a:p>
            <a:p>
              <a:pPr algn="ctr">
                <a:lnSpc>
                  <a:spcPts val="3844"/>
                </a:lnSpc>
                <a:spcBef>
                  <a:spcPct val="0"/>
                </a:spcBef>
              </a:pPr>
              <a:r>
                <a:rPr lang="en-US" b="true" sz="274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    </a:t>
              </a:r>
            </a:p>
            <a:p>
              <a:pPr algn="ctr">
                <a:lnSpc>
                  <a:spcPts val="3844"/>
                </a:lnSpc>
                <a:spcBef>
                  <a:spcPct val="0"/>
                </a:spcBef>
              </a:pPr>
            </a:p>
            <a:p>
              <a:pPr algn="ctr">
                <a:lnSpc>
                  <a:spcPts val="3844"/>
                </a:lnSpc>
                <a:spcBef>
                  <a:spcPct val="0"/>
                </a:spcBef>
              </a:pPr>
              <a:r>
                <a:rPr lang="en-US" b="true" sz="274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Deployment nginx</a:t>
              </a:r>
            </a:p>
            <a:p>
              <a:pPr algn="ctr">
                <a:lnSpc>
                  <a:spcPts val="3844"/>
                </a:lnSpc>
                <a:spcBef>
                  <a:spcPct val="0"/>
                </a:spcBef>
              </a:pPr>
            </a:p>
            <a:p>
              <a:pPr algn="ctr">
                <a:lnSpc>
                  <a:spcPts val="3844"/>
                </a:lnSpc>
                <a:spcBef>
                  <a:spcPct val="0"/>
                </a:spcBef>
              </a:pPr>
            </a:p>
            <a:p>
              <a:pPr algn="ctr">
                <a:lnSpc>
                  <a:spcPts val="3844"/>
                </a:lnSpc>
                <a:spcBef>
                  <a:spcPct val="0"/>
                </a:spcBef>
              </a:pPr>
              <a:r>
                <a:rPr lang="en-US" b="true" sz="2745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Pods nginx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2870903" y="2617196"/>
              <a:ext cx="743581" cy="1260511"/>
              <a:chOff x="0" y="0"/>
              <a:chExt cx="479475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7947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479475">
                    <a:moveTo>
                      <a:pt x="239737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276275" y="0"/>
                    </a:lnTo>
                    <a:lnTo>
                      <a:pt x="276275" y="406400"/>
                    </a:lnTo>
                    <a:lnTo>
                      <a:pt x="479475" y="406400"/>
                    </a:lnTo>
                    <a:lnTo>
                      <a:pt x="239737" y="812800"/>
                    </a:lnTo>
                    <a:close/>
                  </a:path>
                </a:pathLst>
              </a:custGeom>
              <a:solidFill>
                <a:srgbClr val="326BE4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203200" y="-57150"/>
                <a:ext cx="73075" cy="768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4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2870903" y="5199061"/>
              <a:ext cx="743581" cy="1260511"/>
              <a:chOff x="0" y="0"/>
              <a:chExt cx="479475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7947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479475">
                    <a:moveTo>
                      <a:pt x="239737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276275" y="0"/>
                    </a:lnTo>
                    <a:lnTo>
                      <a:pt x="276275" y="406400"/>
                    </a:lnTo>
                    <a:lnTo>
                      <a:pt x="479475" y="406400"/>
                    </a:lnTo>
                    <a:lnTo>
                      <a:pt x="239737" y="812800"/>
                    </a:lnTo>
                    <a:close/>
                  </a:path>
                </a:pathLst>
              </a:custGeom>
              <a:solidFill>
                <a:srgbClr val="326BE4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203200" y="-57150"/>
                <a:ext cx="73075" cy="768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4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2870903" y="7191866"/>
              <a:ext cx="743581" cy="1260511"/>
              <a:chOff x="0" y="0"/>
              <a:chExt cx="479475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7947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479475">
                    <a:moveTo>
                      <a:pt x="239737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276275" y="0"/>
                    </a:lnTo>
                    <a:lnTo>
                      <a:pt x="276275" y="406400"/>
                    </a:lnTo>
                    <a:lnTo>
                      <a:pt x="479475" y="406400"/>
                    </a:lnTo>
                    <a:lnTo>
                      <a:pt x="239737" y="812800"/>
                    </a:lnTo>
                    <a:close/>
                  </a:path>
                </a:pathLst>
              </a:custGeom>
              <a:solidFill>
                <a:srgbClr val="326BE4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203200" y="-57150"/>
                <a:ext cx="73075" cy="768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4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2870903" y="9184672"/>
              <a:ext cx="743581" cy="1260511"/>
              <a:chOff x="0" y="0"/>
              <a:chExt cx="479475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7947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479475">
                    <a:moveTo>
                      <a:pt x="239737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276275" y="0"/>
                    </a:lnTo>
                    <a:lnTo>
                      <a:pt x="276275" y="406400"/>
                    </a:lnTo>
                    <a:lnTo>
                      <a:pt x="479475" y="406400"/>
                    </a:lnTo>
                    <a:lnTo>
                      <a:pt x="239737" y="812800"/>
                    </a:lnTo>
                    <a:close/>
                  </a:path>
                </a:pathLst>
              </a:custGeom>
              <a:solidFill>
                <a:srgbClr val="326BE4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203200" y="-57150"/>
                <a:ext cx="73075" cy="768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4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2870903" y="11068175"/>
              <a:ext cx="743581" cy="1260511"/>
              <a:chOff x="0" y="0"/>
              <a:chExt cx="479475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79475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479475">
                    <a:moveTo>
                      <a:pt x="239737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276275" y="0"/>
                    </a:lnTo>
                    <a:lnTo>
                      <a:pt x="276275" y="406400"/>
                    </a:lnTo>
                    <a:lnTo>
                      <a:pt x="479475" y="406400"/>
                    </a:lnTo>
                    <a:lnTo>
                      <a:pt x="239737" y="812800"/>
                    </a:lnTo>
                    <a:close/>
                  </a:path>
                </a:pathLst>
              </a:custGeom>
              <a:solidFill>
                <a:srgbClr val="326BE4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203200" y="-57150"/>
                <a:ext cx="73075" cy="7683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4"/>
                  </a:lnSpc>
                </a:pPr>
              </a:p>
            </p:txBody>
          </p:sp>
        </p:grpSp>
      </p:grpSp>
      <p:sp>
        <p:nvSpPr>
          <p:cNvPr name="TextBox 23" id="23"/>
          <p:cNvSpPr txBox="true"/>
          <p:nvPr/>
        </p:nvSpPr>
        <p:spPr>
          <a:xfrm rot="0">
            <a:off x="1028700" y="5296747"/>
            <a:ext cx="7461349" cy="2277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0518" indent="-280259" lvl="1">
              <a:lnSpc>
                <a:spcPts val="3634"/>
              </a:lnSpc>
              <a:buAutoNum type="arabicPeriod" startAt="1"/>
            </a:pPr>
            <a:r>
              <a:rPr lang="en-US" sz="25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Modification des manifests dans GitHub.</a:t>
            </a:r>
          </a:p>
          <a:p>
            <a:pPr algn="just" marL="560518" indent="-280259" lvl="1">
              <a:lnSpc>
                <a:spcPts val="3634"/>
              </a:lnSpc>
              <a:spcBef>
                <a:spcPct val="0"/>
              </a:spcBef>
              <a:buAutoNum type="arabicPeriod" startAt="1"/>
            </a:pPr>
            <a:r>
              <a:rPr lang="en-US" sz="25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Validation automatique par GitHub Actions.</a:t>
            </a:r>
          </a:p>
          <a:p>
            <a:pPr algn="just" marL="560518" indent="-280259" lvl="1">
              <a:lnSpc>
                <a:spcPts val="3634"/>
              </a:lnSpc>
              <a:spcBef>
                <a:spcPct val="0"/>
              </a:spcBef>
              <a:buAutoNum type="arabicPeriod" startAt="1"/>
            </a:pPr>
            <a:r>
              <a:rPr lang="en-US" sz="25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ArgoCD détecte le changement.</a:t>
            </a:r>
          </a:p>
          <a:p>
            <a:pPr algn="just" marL="560518" indent="-280259" lvl="1">
              <a:lnSpc>
                <a:spcPts val="3634"/>
              </a:lnSpc>
              <a:spcBef>
                <a:spcPct val="0"/>
              </a:spcBef>
              <a:buAutoNum type="arabicPeriod" startAt="1"/>
            </a:pPr>
            <a:r>
              <a:rPr lang="en-US" sz="259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Synchronisation du cluster Kubernetes.</a:t>
            </a:r>
          </a:p>
          <a:p>
            <a:pPr algn="just">
              <a:lnSpc>
                <a:spcPts val="3634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4553269"/>
            <a:ext cx="4877751" cy="697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7"/>
              </a:lnSpc>
            </a:pPr>
            <a:r>
              <a:rPr lang="en-US" sz="384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FO</a:t>
            </a:r>
            <a:r>
              <a:rPr lang="en-US" sz="384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NCTIONNEMENT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882757" y="961592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1081" y="299867"/>
            <a:ext cx="14905283" cy="1282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35"/>
              </a:lnSpc>
            </a:pPr>
            <a:r>
              <a:rPr lang="en-US" sz="6882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CAS D'USAGE PROFESSIONNEL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381" y="2948940"/>
            <a:ext cx="18288000" cy="6586216"/>
            <a:chOff x="0" y="0"/>
            <a:chExt cx="4416996" cy="15907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16996" cy="1590731"/>
            </a:xfrm>
            <a:custGeom>
              <a:avLst/>
              <a:gdLst/>
              <a:ahLst/>
              <a:cxnLst/>
              <a:rect r="r" b="b" t="t" l="l"/>
              <a:pathLst>
                <a:path h="1590731" w="4416996">
                  <a:moveTo>
                    <a:pt x="0" y="0"/>
                  </a:moveTo>
                  <a:lnTo>
                    <a:pt x="4416996" y="0"/>
                  </a:lnTo>
                  <a:lnTo>
                    <a:pt x="4416996" y="1590731"/>
                  </a:lnTo>
                  <a:lnTo>
                    <a:pt x="0" y="1590731"/>
                  </a:lnTo>
                  <a:close/>
                </a:path>
              </a:pathLst>
            </a:custGeom>
            <a:solidFill>
              <a:srgbClr val="326BE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416996" cy="16478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815943" y="6415671"/>
            <a:ext cx="6305824" cy="54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55"/>
              </a:lnSpc>
            </a:pPr>
            <a:r>
              <a:rPr lang="en-US" sz="2968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Avantages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15943" y="7037594"/>
            <a:ext cx="7102081" cy="16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1821" indent="-255910" lvl="1">
              <a:lnSpc>
                <a:spcPts val="3318"/>
              </a:lnSpc>
              <a:buFont typeface="Arial"/>
              <a:buChar char="•"/>
            </a:pPr>
            <a:r>
              <a:rPr lang="en-US" sz="2370" spc="55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automatisation</a:t>
            </a:r>
          </a:p>
          <a:p>
            <a:pPr algn="l" marL="511821" indent="-255910" lvl="1">
              <a:lnSpc>
                <a:spcPts val="3318"/>
              </a:lnSpc>
              <a:buFont typeface="Arial"/>
              <a:buChar char="•"/>
            </a:pPr>
            <a:r>
              <a:rPr lang="en-US" sz="2370" spc="55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audit des changements</a:t>
            </a:r>
          </a:p>
          <a:p>
            <a:pPr algn="l" marL="511821" indent="-255910" lvl="1">
              <a:lnSpc>
                <a:spcPts val="3318"/>
              </a:lnSpc>
              <a:buFont typeface="Arial"/>
              <a:buChar char="•"/>
            </a:pPr>
            <a:r>
              <a:rPr lang="en-US" sz="2370" spc="55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reproductibilité</a:t>
            </a:r>
          </a:p>
          <a:p>
            <a:pPr algn="l" marL="511821" indent="-255910" lvl="1">
              <a:lnSpc>
                <a:spcPts val="3318"/>
              </a:lnSpc>
              <a:buFont typeface="Arial"/>
              <a:buChar char="•"/>
            </a:pPr>
            <a:r>
              <a:rPr lang="en-US" sz="2370" spc="55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réduction des erreurs humaines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32922" y="6402183"/>
            <a:ext cx="6305824" cy="50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55"/>
              </a:lnSpc>
            </a:pPr>
            <a:r>
              <a:rPr lang="en-US" sz="296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Limites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32922" y="7024105"/>
            <a:ext cx="6843898" cy="166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1821" indent="-255910" lvl="1">
              <a:lnSpc>
                <a:spcPts val="3318"/>
              </a:lnSpc>
              <a:buFont typeface="Arial"/>
              <a:buChar char="•"/>
            </a:pPr>
            <a:r>
              <a:rPr lang="en-US" sz="2370" spc="5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courbe d'apprentissage</a:t>
            </a:r>
          </a:p>
          <a:p>
            <a:pPr algn="l" marL="511821" indent="-255910" lvl="1">
              <a:lnSpc>
                <a:spcPts val="3318"/>
              </a:lnSpc>
              <a:buFont typeface="Arial"/>
              <a:buChar char="•"/>
            </a:pPr>
            <a:r>
              <a:rPr lang="en-US" sz="2370" spc="5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nécessite une bonne maîtrise de Kubernetes</a:t>
            </a:r>
          </a:p>
          <a:p>
            <a:pPr algn="l">
              <a:lnSpc>
                <a:spcPts val="3318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31081" y="1407478"/>
            <a:ext cx="8002201" cy="70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7"/>
              </a:lnSpc>
            </a:pPr>
            <a:r>
              <a:rPr lang="en-US" sz="384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UTILISATION EN ENTRE</a:t>
            </a:r>
            <a:r>
              <a:rPr lang="en-US" sz="384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PRISE</a:t>
            </a:r>
          </a:p>
        </p:txBody>
      </p:sp>
      <p:sp>
        <p:nvSpPr>
          <p:cNvPr name="AutoShape 11" id="11"/>
          <p:cNvSpPr/>
          <p:nvPr/>
        </p:nvSpPr>
        <p:spPr>
          <a:xfrm flipV="true">
            <a:off x="1031081" y="2915602"/>
            <a:ext cx="16230600" cy="0"/>
          </a:xfrm>
          <a:prstGeom prst="line">
            <a:avLst/>
          </a:prstGeom>
          <a:ln cap="flat" w="9525">
            <a:solidFill>
              <a:srgbClr val="000000">
                <a:alpha val="6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9146381" y="4172064"/>
            <a:ext cx="0" cy="4418638"/>
          </a:xfrm>
          <a:prstGeom prst="line">
            <a:avLst/>
          </a:prstGeom>
          <a:ln cap="flat" w="9525">
            <a:solidFill>
              <a:srgbClr val="FFFFFF">
                <a:alpha val="6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031081" y="9535156"/>
            <a:ext cx="16230600" cy="0"/>
          </a:xfrm>
          <a:prstGeom prst="line">
            <a:avLst/>
          </a:prstGeom>
          <a:ln cap="flat" w="9525">
            <a:solidFill>
              <a:srgbClr val="000000">
                <a:alpha val="6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7882757" y="961592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80458" y="2186208"/>
            <a:ext cx="10731847" cy="476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4"/>
              </a:lnSpc>
              <a:spcBef>
                <a:spcPct val="0"/>
              </a:spcBef>
            </a:pPr>
            <a:r>
              <a:rPr lang="en-US" b="true" sz="2596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GitOps est largement utilisé dans les environnements Cloud Native.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13561" y="3340479"/>
            <a:ext cx="6305824" cy="54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55"/>
              </a:lnSpc>
            </a:pPr>
            <a:r>
              <a:rPr lang="en-US" sz="2968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Exemple d'utilisation en entreprise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13561" y="3981452"/>
            <a:ext cx="7104462" cy="2035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5325" indent="-212663" lvl="1">
              <a:lnSpc>
                <a:spcPts val="2758"/>
              </a:lnSpc>
              <a:buFont typeface="Arial"/>
              <a:buChar char="•"/>
            </a:pPr>
            <a:r>
              <a:rPr lang="en-US" sz="1970" spc="46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Déploiement automatique d'applications cloud</a:t>
            </a:r>
          </a:p>
          <a:p>
            <a:pPr algn="l" marL="425325" indent="-212663" lvl="1">
              <a:lnSpc>
                <a:spcPts val="2758"/>
              </a:lnSpc>
              <a:buFont typeface="Arial"/>
              <a:buChar char="•"/>
            </a:pPr>
            <a:r>
              <a:rPr lang="en-US" sz="1970" spc="46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Gestion de plusieurs environnements (dev, test, production)</a:t>
            </a:r>
          </a:p>
          <a:p>
            <a:pPr algn="l" marL="425325" indent="-212663" lvl="1">
              <a:lnSpc>
                <a:spcPts val="2758"/>
              </a:lnSpc>
              <a:buFont typeface="Arial"/>
              <a:buChar char="•"/>
            </a:pPr>
            <a:r>
              <a:rPr lang="en-US" sz="1970" spc="46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Traçabilité complète des changements</a:t>
            </a:r>
          </a:p>
          <a:p>
            <a:pPr algn="l" marL="425325" indent="-212663" lvl="1">
              <a:lnSpc>
                <a:spcPts val="2758"/>
              </a:lnSpc>
              <a:buFont typeface="Arial"/>
              <a:buChar char="•"/>
            </a:pPr>
            <a:r>
              <a:rPr lang="en-US" sz="1970" spc="46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Retour arrière rapide en cas d'incident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30541" y="3326990"/>
            <a:ext cx="6305824" cy="50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55"/>
              </a:lnSpc>
            </a:pPr>
            <a:r>
              <a:rPr lang="en-US" sz="296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Entreprises utilisant GitOps 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30541" y="3948913"/>
            <a:ext cx="6843898" cy="208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1821" indent="-255910" lvl="1">
              <a:lnSpc>
                <a:spcPts val="3318"/>
              </a:lnSpc>
              <a:buFont typeface="Arial"/>
              <a:buChar char="•"/>
            </a:pPr>
            <a:r>
              <a:rPr lang="en-US" sz="2370" spc="5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Google (GKE)</a:t>
            </a:r>
          </a:p>
          <a:p>
            <a:pPr algn="l" marL="511821" indent="-255910" lvl="1">
              <a:lnSpc>
                <a:spcPts val="3318"/>
              </a:lnSpc>
              <a:buFont typeface="Arial"/>
              <a:buChar char="•"/>
            </a:pPr>
            <a:r>
              <a:rPr lang="en-US" sz="2370" spc="5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Red Hat (OpenShift GitOps)</a:t>
            </a:r>
          </a:p>
          <a:p>
            <a:pPr algn="l" marL="511821" indent="-255910" lvl="1">
              <a:lnSpc>
                <a:spcPts val="3318"/>
              </a:lnSpc>
              <a:buFont typeface="Arial"/>
              <a:buChar char="•"/>
            </a:pPr>
            <a:r>
              <a:rPr lang="en-US" sz="2370" spc="5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Sp</a:t>
            </a:r>
            <a:r>
              <a:rPr lang="en-US" sz="2370" spc="5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otify</a:t>
            </a:r>
          </a:p>
          <a:p>
            <a:pPr algn="l" marL="511821" indent="-255910" lvl="1">
              <a:lnSpc>
                <a:spcPts val="3318"/>
              </a:lnSpc>
              <a:buFont typeface="Arial"/>
              <a:buChar char="•"/>
            </a:pPr>
            <a:r>
              <a:rPr lang="en-US" sz="2370" spc="5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Adobe</a:t>
            </a:r>
          </a:p>
          <a:p>
            <a:pPr algn="l" marL="511821" indent="-255910" lvl="1">
              <a:lnSpc>
                <a:spcPts val="3318"/>
              </a:lnSpc>
              <a:buFont typeface="Arial"/>
              <a:buChar char="•"/>
            </a:pPr>
            <a:r>
              <a:rPr lang="en-US" sz="2370" spc="55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Intuit</a:t>
            </a: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04875"/>
            <a:ext cx="10922764" cy="2525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81"/>
              </a:lnSpc>
            </a:pPr>
            <a:r>
              <a:rPr lang="en-US" sz="67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ARCHITECTURE DU PROJET RÉALISÉ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424164" y="2172322"/>
            <a:ext cx="5254439" cy="642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</a:t>
            </a:r>
            <a:r>
              <a:rPr lang="en-US" sz="27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itHub Repository</a:t>
            </a:r>
          </a:p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</a:t>
            </a: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ArgoCD</a:t>
            </a:r>
          </a:p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</a:t>
            </a: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Namespace demo</a:t>
            </a: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Service                    Deployment</a:t>
            </a:r>
          </a:p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  </a:t>
            </a:r>
          </a:p>
          <a:p>
            <a:pPr algn="ctr">
              <a:lnSpc>
                <a:spcPts val="3919"/>
              </a:lnSpc>
            </a:pPr>
          </a:p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 Pod nginx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772541" y="4220329"/>
            <a:ext cx="557686" cy="945383"/>
            <a:chOff x="0" y="0"/>
            <a:chExt cx="479475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9475" cy="812800"/>
            </a:xfrm>
            <a:custGeom>
              <a:avLst/>
              <a:gdLst/>
              <a:ahLst/>
              <a:cxnLst/>
              <a:rect r="r" b="b" t="t" l="l"/>
              <a:pathLst>
                <a:path h="812800" w="479475">
                  <a:moveTo>
                    <a:pt x="239737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276275" y="0"/>
                  </a:lnTo>
                  <a:lnTo>
                    <a:pt x="276275" y="406400"/>
                  </a:lnTo>
                  <a:lnTo>
                    <a:pt x="479475" y="406400"/>
                  </a:lnTo>
                  <a:lnTo>
                    <a:pt x="239737" y="812800"/>
                  </a:lnTo>
                  <a:close/>
                </a:path>
              </a:pathLst>
            </a:custGeom>
            <a:solidFill>
              <a:srgbClr val="326BE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203200" y="-57150"/>
              <a:ext cx="73075" cy="768350"/>
            </a:xfrm>
            <a:prstGeom prst="rect">
              <a:avLst/>
            </a:prstGeom>
          </p:spPr>
          <p:txBody>
            <a:bodyPr anchor="ctr" rtlCol="false" tIns="46495" lIns="46495" bIns="46495" rIns="46495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772541" y="2682792"/>
            <a:ext cx="557686" cy="945383"/>
            <a:chOff x="0" y="0"/>
            <a:chExt cx="479475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79475" cy="812800"/>
            </a:xfrm>
            <a:custGeom>
              <a:avLst/>
              <a:gdLst/>
              <a:ahLst/>
              <a:cxnLst/>
              <a:rect r="r" b="b" t="t" l="l"/>
              <a:pathLst>
                <a:path h="812800" w="479475">
                  <a:moveTo>
                    <a:pt x="239737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276275" y="0"/>
                  </a:lnTo>
                  <a:lnTo>
                    <a:pt x="276275" y="406400"/>
                  </a:lnTo>
                  <a:lnTo>
                    <a:pt x="479475" y="406400"/>
                  </a:lnTo>
                  <a:lnTo>
                    <a:pt x="239737" y="812800"/>
                  </a:lnTo>
                  <a:close/>
                </a:path>
              </a:pathLst>
            </a:custGeom>
            <a:solidFill>
              <a:srgbClr val="326BE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203200" y="-57150"/>
              <a:ext cx="73075" cy="768350"/>
            </a:xfrm>
            <a:prstGeom prst="rect">
              <a:avLst/>
            </a:prstGeom>
          </p:spPr>
          <p:txBody>
            <a:bodyPr anchor="ctr" rtlCol="false" tIns="46495" lIns="46495" bIns="46495" rIns="46495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1790053">
            <a:off x="12272779" y="5684066"/>
            <a:ext cx="557686" cy="945383"/>
            <a:chOff x="0" y="0"/>
            <a:chExt cx="479475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9475" cy="812800"/>
            </a:xfrm>
            <a:custGeom>
              <a:avLst/>
              <a:gdLst/>
              <a:ahLst/>
              <a:cxnLst/>
              <a:rect r="r" b="b" t="t" l="l"/>
              <a:pathLst>
                <a:path h="812800" w="479475">
                  <a:moveTo>
                    <a:pt x="239737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276275" y="0"/>
                  </a:lnTo>
                  <a:lnTo>
                    <a:pt x="276275" y="406400"/>
                  </a:lnTo>
                  <a:lnTo>
                    <a:pt x="479475" y="406400"/>
                  </a:lnTo>
                  <a:lnTo>
                    <a:pt x="239737" y="812800"/>
                  </a:lnTo>
                  <a:close/>
                </a:path>
              </a:pathLst>
            </a:custGeom>
            <a:solidFill>
              <a:srgbClr val="326BE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203200" y="-57150"/>
              <a:ext cx="73075" cy="768350"/>
            </a:xfrm>
            <a:prstGeom prst="rect">
              <a:avLst/>
            </a:prstGeom>
          </p:spPr>
          <p:txBody>
            <a:bodyPr anchor="ctr" rtlCol="false" tIns="46495" lIns="46495" bIns="46495" rIns="46495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1776666">
            <a:off x="14998653" y="5684255"/>
            <a:ext cx="557686" cy="945383"/>
            <a:chOff x="0" y="0"/>
            <a:chExt cx="479475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9475" cy="812800"/>
            </a:xfrm>
            <a:custGeom>
              <a:avLst/>
              <a:gdLst/>
              <a:ahLst/>
              <a:cxnLst/>
              <a:rect r="r" b="b" t="t" l="l"/>
              <a:pathLst>
                <a:path h="812800" w="479475">
                  <a:moveTo>
                    <a:pt x="239737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276275" y="0"/>
                  </a:lnTo>
                  <a:lnTo>
                    <a:pt x="276275" y="406400"/>
                  </a:lnTo>
                  <a:lnTo>
                    <a:pt x="479475" y="406400"/>
                  </a:lnTo>
                  <a:lnTo>
                    <a:pt x="239737" y="812800"/>
                  </a:lnTo>
                  <a:close/>
                </a:path>
              </a:pathLst>
            </a:custGeom>
            <a:solidFill>
              <a:srgbClr val="326BE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203200" y="-57150"/>
              <a:ext cx="73075" cy="768350"/>
            </a:xfrm>
            <a:prstGeom prst="rect">
              <a:avLst/>
            </a:prstGeom>
          </p:spPr>
          <p:txBody>
            <a:bodyPr anchor="ctr" rtlCol="false" tIns="46495" lIns="46495" bIns="46495" rIns="46495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277496" y="7263938"/>
            <a:ext cx="557686" cy="945383"/>
            <a:chOff x="0" y="0"/>
            <a:chExt cx="479475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79475" cy="812800"/>
            </a:xfrm>
            <a:custGeom>
              <a:avLst/>
              <a:gdLst/>
              <a:ahLst/>
              <a:cxnLst/>
              <a:rect r="r" b="b" t="t" l="l"/>
              <a:pathLst>
                <a:path h="812800" w="479475">
                  <a:moveTo>
                    <a:pt x="239737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276275" y="0"/>
                  </a:lnTo>
                  <a:lnTo>
                    <a:pt x="276275" y="406400"/>
                  </a:lnTo>
                  <a:lnTo>
                    <a:pt x="479475" y="406400"/>
                  </a:lnTo>
                  <a:lnTo>
                    <a:pt x="239737" y="812800"/>
                  </a:lnTo>
                  <a:close/>
                </a:path>
              </a:pathLst>
            </a:custGeom>
            <a:solidFill>
              <a:srgbClr val="326BE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203200" y="-57150"/>
              <a:ext cx="73075" cy="768350"/>
            </a:xfrm>
            <a:prstGeom prst="rect">
              <a:avLst/>
            </a:prstGeom>
          </p:spPr>
          <p:txBody>
            <a:bodyPr anchor="ctr" rtlCol="false" tIns="46495" lIns="46495" bIns="46495" rIns="46495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28700" y="4918700"/>
            <a:ext cx="9088168" cy="4339600"/>
          </a:xfrm>
          <a:custGeom>
            <a:avLst/>
            <a:gdLst/>
            <a:ahLst/>
            <a:cxnLst/>
            <a:rect r="r" b="b" t="t" l="l"/>
            <a:pathLst>
              <a:path h="4339600" w="9088168">
                <a:moveTo>
                  <a:pt x="0" y="0"/>
                </a:moveTo>
                <a:lnTo>
                  <a:pt x="9088168" y="0"/>
                </a:lnTo>
                <a:lnTo>
                  <a:pt x="9088168" y="4339600"/>
                </a:lnTo>
                <a:lnTo>
                  <a:pt x="0" y="433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936114" y="393596"/>
            <a:ext cx="1835877" cy="1835877"/>
          </a:xfrm>
          <a:custGeom>
            <a:avLst/>
            <a:gdLst/>
            <a:ahLst/>
            <a:cxnLst/>
            <a:rect r="r" b="b" t="t" l="l"/>
            <a:pathLst>
              <a:path h="1835877" w="1835877">
                <a:moveTo>
                  <a:pt x="0" y="0"/>
                </a:moveTo>
                <a:lnTo>
                  <a:pt x="1835877" y="0"/>
                </a:lnTo>
                <a:lnTo>
                  <a:pt x="1835877" y="1835876"/>
                </a:lnTo>
                <a:lnTo>
                  <a:pt x="0" y="18358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3517799"/>
            <a:ext cx="6290470" cy="70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7"/>
              </a:lnSpc>
            </a:pPr>
            <a:r>
              <a:rPr lang="en-US" sz="3841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Dépôt GitHub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74997" y="9344025"/>
            <a:ext cx="12338005" cy="70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7"/>
              </a:lnSpc>
            </a:pPr>
            <a:r>
              <a:rPr lang="en-US" b="true" sz="3841" u="sng">
                <a:solidFill>
                  <a:srgbClr val="326BE4"/>
                </a:solidFill>
                <a:latin typeface="Helvetica World Bold"/>
                <a:ea typeface="Helvetica World Bold"/>
                <a:cs typeface="Helvetica World Bold"/>
                <a:sym typeface="Helvetica World Bold"/>
                <a:hlinkClick r:id="rId4" tooltip="https://github.com/nokkster/gitops-argocd-demo"/>
              </a:rPr>
              <a:t>https://github.com/nokkster/gitops-argocd-demo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882757" y="961592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57705" y="0"/>
            <a:ext cx="9596673" cy="10287000"/>
            <a:chOff x="0" y="0"/>
            <a:chExt cx="2317830" cy="24845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7830" cy="2484561"/>
            </a:xfrm>
            <a:custGeom>
              <a:avLst/>
              <a:gdLst/>
              <a:ahLst/>
              <a:cxnLst/>
              <a:rect r="r" b="b" t="t" l="l"/>
              <a:pathLst>
                <a:path h="2484561" w="2317830">
                  <a:moveTo>
                    <a:pt x="80673" y="0"/>
                  </a:moveTo>
                  <a:lnTo>
                    <a:pt x="2237157" y="0"/>
                  </a:lnTo>
                  <a:cubicBezTo>
                    <a:pt x="2281711" y="0"/>
                    <a:pt x="2317830" y="36119"/>
                    <a:pt x="2317830" y="80673"/>
                  </a:cubicBezTo>
                  <a:lnTo>
                    <a:pt x="2317830" y="2403888"/>
                  </a:lnTo>
                  <a:cubicBezTo>
                    <a:pt x="2317830" y="2448442"/>
                    <a:pt x="2281711" y="2484561"/>
                    <a:pt x="2237157" y="2484561"/>
                  </a:cubicBezTo>
                  <a:lnTo>
                    <a:pt x="80673" y="2484561"/>
                  </a:lnTo>
                  <a:cubicBezTo>
                    <a:pt x="36119" y="2484561"/>
                    <a:pt x="0" y="2448442"/>
                    <a:pt x="0" y="2403888"/>
                  </a:cubicBezTo>
                  <a:lnTo>
                    <a:pt x="0" y="80673"/>
                  </a:lnTo>
                  <a:cubicBezTo>
                    <a:pt x="0" y="36119"/>
                    <a:pt x="36119" y="0"/>
                    <a:pt x="80673" y="0"/>
                  </a:cubicBezTo>
                  <a:close/>
                </a:path>
              </a:pathLst>
            </a:custGeom>
            <a:solidFill>
              <a:srgbClr val="326B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17830" cy="2541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964986" y="7279440"/>
            <a:ext cx="11058044" cy="2162337"/>
          </a:xfrm>
          <a:custGeom>
            <a:avLst/>
            <a:gdLst/>
            <a:ahLst/>
            <a:cxnLst/>
            <a:rect r="r" b="b" t="t" l="l"/>
            <a:pathLst>
              <a:path h="2162337" w="11058044">
                <a:moveTo>
                  <a:pt x="0" y="0"/>
                </a:moveTo>
                <a:lnTo>
                  <a:pt x="11058045" y="0"/>
                </a:lnTo>
                <a:lnTo>
                  <a:pt x="11058045" y="2162338"/>
                </a:lnTo>
                <a:lnTo>
                  <a:pt x="0" y="21623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19" r="0" b="-81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04875"/>
            <a:ext cx="7879484" cy="239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MISE EN ŒUVRE TECHNIQUE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180803"/>
            <a:ext cx="7265866" cy="526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Cluster Kubernetes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minikube start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Installation ArgoCD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kubectl create namespace argocd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kubectl apply -f install.yaml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Déploiement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kubectl apply -f app.yml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347987"/>
            <a:ext cx="4488337" cy="588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7"/>
              </a:lnSpc>
            </a:pPr>
            <a:r>
              <a:rPr lang="en-US" sz="344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INSTALLATION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964986" y="3279884"/>
            <a:ext cx="11058044" cy="3497107"/>
          </a:xfrm>
          <a:custGeom>
            <a:avLst/>
            <a:gdLst/>
            <a:ahLst/>
            <a:cxnLst/>
            <a:rect r="r" b="b" t="t" l="l"/>
            <a:pathLst>
              <a:path h="3497107" w="11058044">
                <a:moveTo>
                  <a:pt x="0" y="0"/>
                </a:moveTo>
                <a:lnTo>
                  <a:pt x="11058045" y="0"/>
                </a:lnTo>
                <a:lnTo>
                  <a:pt x="11058045" y="3497106"/>
                </a:lnTo>
                <a:lnTo>
                  <a:pt x="0" y="34971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882757" y="961592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57705" y="0"/>
            <a:ext cx="9596673" cy="10287000"/>
            <a:chOff x="0" y="0"/>
            <a:chExt cx="2317830" cy="24845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7830" cy="2484561"/>
            </a:xfrm>
            <a:custGeom>
              <a:avLst/>
              <a:gdLst/>
              <a:ahLst/>
              <a:cxnLst/>
              <a:rect r="r" b="b" t="t" l="l"/>
              <a:pathLst>
                <a:path h="2484561" w="2317830">
                  <a:moveTo>
                    <a:pt x="80673" y="0"/>
                  </a:moveTo>
                  <a:lnTo>
                    <a:pt x="2237157" y="0"/>
                  </a:lnTo>
                  <a:cubicBezTo>
                    <a:pt x="2281711" y="0"/>
                    <a:pt x="2317830" y="36119"/>
                    <a:pt x="2317830" y="80673"/>
                  </a:cubicBezTo>
                  <a:lnTo>
                    <a:pt x="2317830" y="2403888"/>
                  </a:lnTo>
                  <a:cubicBezTo>
                    <a:pt x="2317830" y="2448442"/>
                    <a:pt x="2281711" y="2484561"/>
                    <a:pt x="2237157" y="2484561"/>
                  </a:cubicBezTo>
                  <a:lnTo>
                    <a:pt x="80673" y="2484561"/>
                  </a:lnTo>
                  <a:cubicBezTo>
                    <a:pt x="36119" y="2484561"/>
                    <a:pt x="0" y="2448442"/>
                    <a:pt x="0" y="2403888"/>
                  </a:cubicBezTo>
                  <a:lnTo>
                    <a:pt x="0" y="80673"/>
                  </a:lnTo>
                  <a:cubicBezTo>
                    <a:pt x="0" y="36119"/>
                    <a:pt x="36119" y="0"/>
                    <a:pt x="80673" y="0"/>
                  </a:cubicBezTo>
                  <a:close/>
                </a:path>
              </a:pathLst>
            </a:custGeom>
            <a:solidFill>
              <a:srgbClr val="326B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17830" cy="2541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904875"/>
            <a:ext cx="7879484" cy="239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DÉPLOIEMENT INITIAL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180803"/>
            <a:ext cx="7265866" cy="308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Version initiale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repl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icas: 1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Ré</a:t>
            </a:r>
            <a:r>
              <a:rPr lang="en-US" sz="26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sultat :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kubectl get pods -n demo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nginx-xxxxx Running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791717" y="1859930"/>
            <a:ext cx="8503591" cy="5867478"/>
          </a:xfrm>
          <a:custGeom>
            <a:avLst/>
            <a:gdLst/>
            <a:ahLst/>
            <a:cxnLst/>
            <a:rect r="r" b="b" t="t" l="l"/>
            <a:pathLst>
              <a:path h="5867478" w="8503591">
                <a:moveTo>
                  <a:pt x="0" y="0"/>
                </a:moveTo>
                <a:lnTo>
                  <a:pt x="8503591" y="0"/>
                </a:lnTo>
                <a:lnTo>
                  <a:pt x="8503591" y="5867477"/>
                </a:lnTo>
                <a:lnTo>
                  <a:pt x="0" y="58674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392883" y="8197666"/>
            <a:ext cx="11301259" cy="1440911"/>
          </a:xfrm>
          <a:custGeom>
            <a:avLst/>
            <a:gdLst/>
            <a:ahLst/>
            <a:cxnLst/>
            <a:rect r="r" b="b" t="t" l="l"/>
            <a:pathLst>
              <a:path h="1440911" w="11301259">
                <a:moveTo>
                  <a:pt x="0" y="0"/>
                </a:moveTo>
                <a:lnTo>
                  <a:pt x="11301259" y="0"/>
                </a:lnTo>
                <a:lnTo>
                  <a:pt x="11301259" y="1440910"/>
                </a:lnTo>
                <a:lnTo>
                  <a:pt x="0" y="14409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882757" y="961592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</a:t>
            </a:r>
          </a:p>
        </p:txBody>
      </p: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57705" y="0"/>
            <a:ext cx="9596673" cy="10287000"/>
            <a:chOff x="0" y="0"/>
            <a:chExt cx="2317830" cy="24845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7830" cy="2484561"/>
            </a:xfrm>
            <a:custGeom>
              <a:avLst/>
              <a:gdLst/>
              <a:ahLst/>
              <a:cxnLst/>
              <a:rect r="r" b="b" t="t" l="l"/>
              <a:pathLst>
                <a:path h="2484561" w="2317830">
                  <a:moveTo>
                    <a:pt x="80673" y="0"/>
                  </a:moveTo>
                  <a:lnTo>
                    <a:pt x="2237157" y="0"/>
                  </a:lnTo>
                  <a:cubicBezTo>
                    <a:pt x="2281711" y="0"/>
                    <a:pt x="2317830" y="36119"/>
                    <a:pt x="2317830" y="80673"/>
                  </a:cubicBezTo>
                  <a:lnTo>
                    <a:pt x="2317830" y="2403888"/>
                  </a:lnTo>
                  <a:cubicBezTo>
                    <a:pt x="2317830" y="2448442"/>
                    <a:pt x="2281711" y="2484561"/>
                    <a:pt x="2237157" y="2484561"/>
                  </a:cubicBezTo>
                  <a:lnTo>
                    <a:pt x="80673" y="2484561"/>
                  </a:lnTo>
                  <a:cubicBezTo>
                    <a:pt x="36119" y="2484561"/>
                    <a:pt x="0" y="2448442"/>
                    <a:pt x="0" y="2403888"/>
                  </a:cubicBezTo>
                  <a:lnTo>
                    <a:pt x="0" y="80673"/>
                  </a:lnTo>
                  <a:cubicBezTo>
                    <a:pt x="0" y="36119"/>
                    <a:pt x="36119" y="0"/>
                    <a:pt x="80673" y="0"/>
                  </a:cubicBezTo>
                  <a:close/>
                </a:path>
              </a:pathLst>
            </a:custGeom>
            <a:solidFill>
              <a:srgbClr val="326B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17830" cy="2541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914400"/>
            <a:ext cx="7265866" cy="226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DÉMONSTRATION GITOPS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498827"/>
            <a:ext cx="7265866" cy="526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Avant :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repl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icas: 1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Après :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replicas: 3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</a:t>
            </a:r>
            <a:r>
              <a:rPr lang="en-US" sz="25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ommit GitHub :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git 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commit -m "scale nginx"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git push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ArgoCD détecte automatiquement le changement.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997784" y="5906190"/>
            <a:ext cx="9830784" cy="1769541"/>
          </a:xfrm>
          <a:custGeom>
            <a:avLst/>
            <a:gdLst/>
            <a:ahLst/>
            <a:cxnLst/>
            <a:rect r="r" b="b" t="t" l="l"/>
            <a:pathLst>
              <a:path h="1769541" w="9830784">
                <a:moveTo>
                  <a:pt x="0" y="0"/>
                </a:moveTo>
                <a:lnTo>
                  <a:pt x="9830784" y="0"/>
                </a:lnTo>
                <a:lnTo>
                  <a:pt x="9830784" y="1769541"/>
                </a:lnTo>
                <a:lnTo>
                  <a:pt x="0" y="1769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97784" y="1545535"/>
            <a:ext cx="9830784" cy="4116641"/>
          </a:xfrm>
          <a:custGeom>
            <a:avLst/>
            <a:gdLst/>
            <a:ahLst/>
            <a:cxnLst/>
            <a:rect r="r" b="b" t="t" l="l"/>
            <a:pathLst>
              <a:path h="4116641" w="9830784">
                <a:moveTo>
                  <a:pt x="0" y="0"/>
                </a:moveTo>
                <a:lnTo>
                  <a:pt x="9830784" y="0"/>
                </a:lnTo>
                <a:lnTo>
                  <a:pt x="9830784" y="4116641"/>
                </a:lnTo>
                <a:lnTo>
                  <a:pt x="0" y="41166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997784" y="7675731"/>
            <a:ext cx="9830784" cy="2084071"/>
          </a:xfrm>
          <a:custGeom>
            <a:avLst/>
            <a:gdLst/>
            <a:ahLst/>
            <a:cxnLst/>
            <a:rect r="r" b="b" t="t" l="l"/>
            <a:pathLst>
              <a:path h="2084071" w="9830784">
                <a:moveTo>
                  <a:pt x="0" y="0"/>
                </a:moveTo>
                <a:lnTo>
                  <a:pt x="9830784" y="0"/>
                </a:lnTo>
                <a:lnTo>
                  <a:pt x="9830784" y="2084072"/>
                </a:lnTo>
                <a:lnTo>
                  <a:pt x="0" y="20840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3347987"/>
            <a:ext cx="4488337" cy="1198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7"/>
              </a:lnSpc>
            </a:pPr>
            <a:r>
              <a:rPr lang="en-US" sz="344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MODIFICATION DU DÉPÔT GIT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19463" y="9712178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</a:t>
            </a:r>
          </a:p>
        </p:txBody>
      </p: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57705" y="0"/>
            <a:ext cx="9596673" cy="10287000"/>
            <a:chOff x="0" y="0"/>
            <a:chExt cx="2317830" cy="24845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7830" cy="2484561"/>
            </a:xfrm>
            <a:custGeom>
              <a:avLst/>
              <a:gdLst/>
              <a:ahLst/>
              <a:cxnLst/>
              <a:rect r="r" b="b" t="t" l="l"/>
              <a:pathLst>
                <a:path h="2484561" w="2317830">
                  <a:moveTo>
                    <a:pt x="80673" y="0"/>
                  </a:moveTo>
                  <a:lnTo>
                    <a:pt x="2237157" y="0"/>
                  </a:lnTo>
                  <a:cubicBezTo>
                    <a:pt x="2281711" y="0"/>
                    <a:pt x="2317830" y="36119"/>
                    <a:pt x="2317830" y="80673"/>
                  </a:cubicBezTo>
                  <a:lnTo>
                    <a:pt x="2317830" y="2403888"/>
                  </a:lnTo>
                  <a:cubicBezTo>
                    <a:pt x="2317830" y="2448442"/>
                    <a:pt x="2281711" y="2484561"/>
                    <a:pt x="2237157" y="2484561"/>
                  </a:cubicBezTo>
                  <a:lnTo>
                    <a:pt x="80673" y="2484561"/>
                  </a:lnTo>
                  <a:cubicBezTo>
                    <a:pt x="36119" y="2484561"/>
                    <a:pt x="0" y="2448442"/>
                    <a:pt x="0" y="2403888"/>
                  </a:cubicBezTo>
                  <a:lnTo>
                    <a:pt x="0" y="80673"/>
                  </a:lnTo>
                  <a:cubicBezTo>
                    <a:pt x="0" y="36119"/>
                    <a:pt x="36119" y="0"/>
                    <a:pt x="80673" y="0"/>
                  </a:cubicBezTo>
                  <a:close/>
                </a:path>
              </a:pathLst>
            </a:custGeom>
            <a:solidFill>
              <a:srgbClr val="326B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317830" cy="2541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1555699" y="2166118"/>
          <a:ext cx="4948333" cy="2819400"/>
        </p:xfrm>
        <a:graphic>
          <a:graphicData uri="http://schemas.openxmlformats.org/drawingml/2006/table">
            <a:tbl>
              <a:tblPr/>
              <a:tblGrid>
                <a:gridCol w="2474166"/>
                <a:gridCol w="2474166"/>
              </a:tblGrid>
              <a:tr h="5638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Outil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BE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Fonction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BE4"/>
                    </a:solidFill>
                  </a:tcPr>
                </a:tc>
              </a:tr>
              <a:tr h="5638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GitHub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Source de vérité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GitHub Actions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ArgoCD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Kubernetes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Exécution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Freeform 6" id="6"/>
          <p:cNvSpPr/>
          <p:nvPr/>
        </p:nvSpPr>
        <p:spPr>
          <a:xfrm flipH="false" flipV="false" rot="0">
            <a:off x="2139657" y="6841543"/>
            <a:ext cx="5043951" cy="3156903"/>
          </a:xfrm>
          <a:custGeom>
            <a:avLst/>
            <a:gdLst/>
            <a:ahLst/>
            <a:cxnLst/>
            <a:rect r="r" b="b" t="t" l="l"/>
            <a:pathLst>
              <a:path h="3156903" w="5043951">
                <a:moveTo>
                  <a:pt x="0" y="0"/>
                </a:moveTo>
                <a:lnTo>
                  <a:pt x="5043951" y="0"/>
                </a:lnTo>
                <a:lnTo>
                  <a:pt x="5043951" y="3156903"/>
                </a:lnTo>
                <a:lnTo>
                  <a:pt x="0" y="31569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51771" y="5143500"/>
            <a:ext cx="4356190" cy="5021153"/>
          </a:xfrm>
          <a:custGeom>
            <a:avLst/>
            <a:gdLst/>
            <a:ahLst/>
            <a:cxnLst/>
            <a:rect r="r" b="b" t="t" l="l"/>
            <a:pathLst>
              <a:path h="5021153" w="4356190">
                <a:moveTo>
                  <a:pt x="0" y="0"/>
                </a:moveTo>
                <a:lnTo>
                  <a:pt x="4356190" y="0"/>
                </a:lnTo>
                <a:lnTo>
                  <a:pt x="4356190" y="5021153"/>
                </a:lnTo>
                <a:lnTo>
                  <a:pt x="0" y="50211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3417068"/>
            <a:ext cx="7265866" cy="308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Pipeline ajoutée :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.g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ithub/workflows/validate-k8s.yml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Fo</a:t>
            </a:r>
            <a:r>
              <a:rPr lang="en-US" sz="26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nctions 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va</a:t>
            </a: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lidation YAML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validation Kubernetes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contrôle automatique à chaque push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04875"/>
            <a:ext cx="7879484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CI/CD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081419"/>
            <a:ext cx="4488337" cy="129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7"/>
              </a:lnSpc>
            </a:pPr>
            <a:r>
              <a:rPr lang="en-US" sz="3441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PIPELINE GITHUB ACTIONS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85697" y="749693"/>
            <a:ext cx="4488337" cy="129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7"/>
              </a:lnSpc>
            </a:pPr>
            <a:r>
              <a:rPr lang="en-US" b="true" sz="3441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RÉPARTITION DES RÔLES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73652" y="9669353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</a:t>
            </a:r>
          </a:p>
        </p:txBody>
      </p:sp>
    </p:spTree>
  </p:cSld>
  <p:clrMapOvr>
    <a:masterClrMapping/>
  </p:clrMapOvr>
  <p:transition spd="fast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92417" y="978134"/>
            <a:ext cx="20072834" cy="9308866"/>
            <a:chOff x="0" y="0"/>
            <a:chExt cx="4848077" cy="22483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8077" cy="2248317"/>
            </a:xfrm>
            <a:custGeom>
              <a:avLst/>
              <a:gdLst/>
              <a:ahLst/>
              <a:cxnLst/>
              <a:rect r="r" b="b" t="t" l="l"/>
              <a:pathLst>
                <a:path h="2248317" w="4848077">
                  <a:moveTo>
                    <a:pt x="38569" y="0"/>
                  </a:moveTo>
                  <a:lnTo>
                    <a:pt x="4809508" y="0"/>
                  </a:lnTo>
                  <a:cubicBezTo>
                    <a:pt x="4830809" y="0"/>
                    <a:pt x="4848077" y="17268"/>
                    <a:pt x="4848077" y="38569"/>
                  </a:cubicBezTo>
                  <a:lnTo>
                    <a:pt x="4848077" y="2209748"/>
                  </a:lnTo>
                  <a:cubicBezTo>
                    <a:pt x="4848077" y="2219977"/>
                    <a:pt x="4844014" y="2229788"/>
                    <a:pt x="4836781" y="2237021"/>
                  </a:cubicBezTo>
                  <a:cubicBezTo>
                    <a:pt x="4829547" y="2244254"/>
                    <a:pt x="4819737" y="2248317"/>
                    <a:pt x="4809508" y="2248317"/>
                  </a:cubicBezTo>
                  <a:lnTo>
                    <a:pt x="38569" y="2248317"/>
                  </a:lnTo>
                  <a:cubicBezTo>
                    <a:pt x="28340" y="2248317"/>
                    <a:pt x="18530" y="2244254"/>
                    <a:pt x="11297" y="2237021"/>
                  </a:cubicBezTo>
                  <a:cubicBezTo>
                    <a:pt x="4064" y="2229788"/>
                    <a:pt x="0" y="2219977"/>
                    <a:pt x="0" y="2209748"/>
                  </a:cubicBezTo>
                  <a:lnTo>
                    <a:pt x="0" y="38569"/>
                  </a:lnTo>
                  <a:cubicBezTo>
                    <a:pt x="0" y="17268"/>
                    <a:pt x="17268" y="0"/>
                    <a:pt x="38569" y="0"/>
                  </a:cubicBezTo>
                  <a:close/>
                </a:path>
              </a:pathLst>
            </a:custGeom>
            <a:solidFill>
              <a:srgbClr val="326B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48077" cy="230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194538"/>
            <a:ext cx="12291534" cy="253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1"/>
              </a:lnSpc>
            </a:pPr>
            <a:r>
              <a:rPr lang="en-US" sz="11354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DIFFICULTÉS RENCONTRÉES</a:t>
            </a:r>
          </a:p>
        </p:txBody>
      </p:sp>
      <p:sp>
        <p:nvSpPr>
          <p:cNvPr name="AutoShape 6" id="6"/>
          <p:cNvSpPr/>
          <p:nvPr/>
        </p:nvSpPr>
        <p:spPr>
          <a:xfrm>
            <a:off x="-421430" y="4723312"/>
            <a:ext cx="1906218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546383" y="1861163"/>
            <a:ext cx="2712917" cy="2638312"/>
          </a:xfrm>
          <a:custGeom>
            <a:avLst/>
            <a:gdLst/>
            <a:ahLst/>
            <a:cxnLst/>
            <a:rect r="r" b="b" t="t" l="l"/>
            <a:pathLst>
              <a:path h="2638312" w="2712917">
                <a:moveTo>
                  <a:pt x="0" y="0"/>
                </a:moveTo>
                <a:lnTo>
                  <a:pt x="2712917" y="0"/>
                </a:lnTo>
                <a:lnTo>
                  <a:pt x="2712917" y="2638311"/>
                </a:lnTo>
                <a:lnTo>
                  <a:pt x="0" y="26383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5690099"/>
            <a:ext cx="7878132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Comprendre le fonctionnement GitOps</a:t>
            </a:r>
          </a:p>
          <a:p>
            <a:pPr algn="just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ifférence entre CI et CD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81168" y="4934799"/>
            <a:ext cx="4877751" cy="64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7"/>
              </a:lnSpc>
            </a:pPr>
            <a:r>
              <a:rPr lang="en-US" sz="3841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SOLUTION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81168" y="5690099"/>
            <a:ext cx="7878132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Documentation Arg</a:t>
            </a: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oCD</a:t>
            </a:r>
          </a:p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ests p</a:t>
            </a: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ogressifs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934799"/>
            <a:ext cx="4877751" cy="70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7"/>
              </a:lnSpc>
            </a:pPr>
            <a:r>
              <a:rPr lang="en-US" sz="3841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PROBLÈME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441365"/>
            <a:ext cx="787813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Configuration initiale d'ArgoCD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81168" y="6686065"/>
            <a:ext cx="7293648" cy="64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7"/>
              </a:lnSpc>
            </a:pPr>
            <a:r>
              <a:rPr lang="en-US" sz="3841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SOLUTION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81168" y="7441365"/>
            <a:ext cx="787813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Vérification des </a:t>
            </a: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namespaces et des manifests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686065"/>
            <a:ext cx="4877751" cy="70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7"/>
              </a:lnSpc>
            </a:pPr>
            <a:r>
              <a:rPr lang="en-US" sz="3841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PROBLÈME 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726893" y="966268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8841190"/>
            <a:ext cx="787813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Validation des manifests Kubernetes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81168" y="8085890"/>
            <a:ext cx="7293648" cy="64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7"/>
              </a:lnSpc>
            </a:pPr>
            <a:r>
              <a:rPr lang="en-US" sz="3841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SOLUTION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81168" y="8841190"/>
            <a:ext cx="787813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Mise e</a:t>
            </a: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 place d'une pipeline GitHub Actions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8085890"/>
            <a:ext cx="4877751" cy="70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7"/>
              </a:lnSpc>
            </a:pPr>
            <a:r>
              <a:rPr lang="en-US" sz="3841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PROBLÈME 3</a:t>
            </a:r>
          </a:p>
        </p:txBody>
      </p:sp>
    </p:spTree>
  </p:cSld>
  <p:clrMapOvr>
    <a:masterClrMapping/>
  </p:clrMapOvr>
  <p:transition spd="fast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92417" y="978134"/>
            <a:ext cx="20072834" cy="9308866"/>
            <a:chOff x="0" y="0"/>
            <a:chExt cx="4848077" cy="22483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8077" cy="2248317"/>
            </a:xfrm>
            <a:custGeom>
              <a:avLst/>
              <a:gdLst/>
              <a:ahLst/>
              <a:cxnLst/>
              <a:rect r="r" b="b" t="t" l="l"/>
              <a:pathLst>
                <a:path h="2248317" w="4848077">
                  <a:moveTo>
                    <a:pt x="38569" y="0"/>
                  </a:moveTo>
                  <a:lnTo>
                    <a:pt x="4809508" y="0"/>
                  </a:lnTo>
                  <a:cubicBezTo>
                    <a:pt x="4830809" y="0"/>
                    <a:pt x="4848077" y="17268"/>
                    <a:pt x="4848077" y="38569"/>
                  </a:cubicBezTo>
                  <a:lnTo>
                    <a:pt x="4848077" y="2209748"/>
                  </a:lnTo>
                  <a:cubicBezTo>
                    <a:pt x="4848077" y="2219977"/>
                    <a:pt x="4844014" y="2229788"/>
                    <a:pt x="4836781" y="2237021"/>
                  </a:cubicBezTo>
                  <a:cubicBezTo>
                    <a:pt x="4829547" y="2244254"/>
                    <a:pt x="4819737" y="2248317"/>
                    <a:pt x="4809508" y="2248317"/>
                  </a:cubicBezTo>
                  <a:lnTo>
                    <a:pt x="38569" y="2248317"/>
                  </a:lnTo>
                  <a:cubicBezTo>
                    <a:pt x="28340" y="2248317"/>
                    <a:pt x="18530" y="2244254"/>
                    <a:pt x="11297" y="2237021"/>
                  </a:cubicBezTo>
                  <a:cubicBezTo>
                    <a:pt x="4064" y="2229788"/>
                    <a:pt x="0" y="2219977"/>
                    <a:pt x="0" y="2209748"/>
                  </a:cubicBezTo>
                  <a:lnTo>
                    <a:pt x="0" y="38569"/>
                  </a:lnTo>
                  <a:cubicBezTo>
                    <a:pt x="0" y="17268"/>
                    <a:pt x="17268" y="0"/>
                    <a:pt x="38569" y="0"/>
                  </a:cubicBezTo>
                  <a:close/>
                </a:path>
              </a:pathLst>
            </a:custGeom>
            <a:solidFill>
              <a:srgbClr val="326B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848077" cy="2305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194538"/>
            <a:ext cx="12291534" cy="253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61"/>
              </a:lnSpc>
            </a:pPr>
            <a:r>
              <a:rPr lang="en-US" sz="11354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RETOUR D'EXPÉRIENCE</a:t>
            </a:r>
          </a:p>
        </p:txBody>
      </p:sp>
      <p:sp>
        <p:nvSpPr>
          <p:cNvPr name="AutoShape 6" id="6"/>
          <p:cNvSpPr/>
          <p:nvPr/>
        </p:nvSpPr>
        <p:spPr>
          <a:xfrm>
            <a:off x="-421430" y="4723312"/>
            <a:ext cx="19062180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4546383" y="1861163"/>
            <a:ext cx="2712917" cy="2638312"/>
          </a:xfrm>
          <a:custGeom>
            <a:avLst/>
            <a:gdLst/>
            <a:ahLst/>
            <a:cxnLst/>
            <a:rect r="r" b="b" t="t" l="l"/>
            <a:pathLst>
              <a:path h="2638312" w="2712917">
                <a:moveTo>
                  <a:pt x="0" y="0"/>
                </a:moveTo>
                <a:lnTo>
                  <a:pt x="2712917" y="0"/>
                </a:lnTo>
                <a:lnTo>
                  <a:pt x="2712917" y="2638311"/>
                </a:lnTo>
                <a:lnTo>
                  <a:pt x="0" y="26383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5690099"/>
            <a:ext cx="7878132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fonctionnement de Kubernetes</a:t>
            </a:r>
          </a:p>
          <a:p>
            <a:pPr algn="just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principes GitOps</a:t>
            </a:r>
          </a:p>
          <a:p>
            <a:pPr algn="just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utili</a:t>
            </a: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sation d'ArgoCD</a:t>
            </a:r>
          </a:p>
          <a:p>
            <a:pPr algn="just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intégration CI/CD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81168" y="4934799"/>
            <a:ext cx="4877751" cy="64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7"/>
              </a:lnSpc>
            </a:pPr>
            <a:r>
              <a:rPr lang="en-US" sz="3841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POINTS FORTS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81168" y="5690099"/>
            <a:ext cx="7878132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automatisation c</a:t>
            </a: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omplète</a:t>
            </a:r>
          </a:p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estion par Git</a:t>
            </a:r>
          </a:p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ollback simple</a:t>
            </a:r>
          </a:p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traçabilité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934799"/>
            <a:ext cx="4877751" cy="70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7"/>
              </a:lnSpc>
            </a:pPr>
            <a:r>
              <a:rPr lang="en-US" sz="3841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CE QUE J'AI APPRIS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8051950"/>
            <a:ext cx="7878132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configuration initiale complexe</a:t>
            </a:r>
          </a:p>
          <a:p>
            <a:pPr algn="just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dépendance à Kubernetes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81168" y="7296650"/>
            <a:ext cx="7293648" cy="64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7"/>
              </a:lnSpc>
            </a:pPr>
            <a:r>
              <a:rPr lang="en-US" sz="3841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AMÉLIORATIONS POSSIBLES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81168" y="8051950"/>
            <a:ext cx="7878132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utilisation de Hel</a:t>
            </a: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</a:p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déploiem</a:t>
            </a: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ent multi-environnements</a:t>
            </a:r>
          </a:p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onitoring avec Prometheus et Grafana</a:t>
            </a:r>
          </a:p>
          <a:p>
            <a:pPr algn="l" marL="431797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gestion de plusieurs clusters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296650"/>
            <a:ext cx="4877751" cy="70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7"/>
              </a:lnSpc>
            </a:pPr>
            <a:r>
              <a:rPr lang="en-US" sz="3841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POINTS FAIBLES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726893" y="966268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13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46220" y="916263"/>
            <a:ext cx="3652820" cy="9258300"/>
          </a:xfrm>
          <a:custGeom>
            <a:avLst/>
            <a:gdLst/>
            <a:ahLst/>
            <a:cxnLst/>
            <a:rect r="r" b="b" t="t" l="l"/>
            <a:pathLst>
              <a:path h="9258300" w="3652820">
                <a:moveTo>
                  <a:pt x="0" y="0"/>
                </a:moveTo>
                <a:lnTo>
                  <a:pt x="3652821" y="0"/>
                </a:lnTo>
                <a:lnTo>
                  <a:pt x="3652821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768342" y="916263"/>
            <a:ext cx="14666437" cy="9258300"/>
            <a:chOff x="0" y="0"/>
            <a:chExt cx="3542301" cy="22361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42301" cy="2236104"/>
            </a:xfrm>
            <a:custGeom>
              <a:avLst/>
              <a:gdLst/>
              <a:ahLst/>
              <a:cxnLst/>
              <a:rect r="r" b="b" t="t" l="l"/>
              <a:pathLst>
                <a:path h="2236104" w="3542301">
                  <a:moveTo>
                    <a:pt x="52787" y="0"/>
                  </a:moveTo>
                  <a:lnTo>
                    <a:pt x="3489514" y="0"/>
                  </a:lnTo>
                  <a:cubicBezTo>
                    <a:pt x="3518667" y="0"/>
                    <a:pt x="3542301" y="23633"/>
                    <a:pt x="3542301" y="52787"/>
                  </a:cubicBezTo>
                  <a:lnTo>
                    <a:pt x="3542301" y="2183318"/>
                  </a:lnTo>
                  <a:cubicBezTo>
                    <a:pt x="3542301" y="2212471"/>
                    <a:pt x="3518667" y="2236104"/>
                    <a:pt x="3489514" y="2236104"/>
                  </a:cubicBezTo>
                  <a:lnTo>
                    <a:pt x="52787" y="2236104"/>
                  </a:lnTo>
                  <a:cubicBezTo>
                    <a:pt x="23633" y="2236104"/>
                    <a:pt x="0" y="2212471"/>
                    <a:pt x="0" y="2183318"/>
                  </a:cubicBezTo>
                  <a:lnTo>
                    <a:pt x="0" y="52787"/>
                  </a:lnTo>
                  <a:cubicBezTo>
                    <a:pt x="0" y="23633"/>
                    <a:pt x="23633" y="0"/>
                    <a:pt x="52787" y="0"/>
                  </a:cubicBezTo>
                  <a:close/>
                </a:path>
              </a:pathLst>
            </a:custGeom>
            <a:solidFill>
              <a:srgbClr val="326BE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542301" cy="22932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8956139"/>
            <a:ext cx="268305" cy="268305"/>
          </a:xfrm>
          <a:custGeom>
            <a:avLst/>
            <a:gdLst/>
            <a:ahLst/>
            <a:cxnLst/>
            <a:rect r="r" b="b" t="t" l="l"/>
            <a:pathLst>
              <a:path h="268305" w="268305">
                <a:moveTo>
                  <a:pt x="0" y="0"/>
                </a:moveTo>
                <a:lnTo>
                  <a:pt x="268305" y="0"/>
                </a:lnTo>
                <a:lnTo>
                  <a:pt x="268305" y="268305"/>
                </a:lnTo>
                <a:lnTo>
                  <a:pt x="0" y="2683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714500"/>
            <a:ext cx="8889400" cy="202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16"/>
              </a:lnSpc>
            </a:pPr>
            <a:r>
              <a:rPr lang="en-US" sz="16337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MERCI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2545" y="8893175"/>
            <a:ext cx="6660827" cy="35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2"/>
              </a:lnSpc>
            </a:pPr>
            <a:r>
              <a:rPr lang="en-US" sz="210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https://github.com/nokkster/gitops-argocd-demo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89168" y="7568364"/>
            <a:ext cx="4270132" cy="1656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BOHDAN DYSHLEVYY</a:t>
            </a:r>
          </a:p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BUT3A RÉSEAUX &amp; TÉLÉCOMMUNICATIONS</a:t>
            </a:r>
          </a:p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UNIVERSITÉ CÔTE D'AZUR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267325"/>
            <a:ext cx="6153710" cy="1113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6"/>
              </a:lnSpc>
            </a:pPr>
            <a:r>
              <a:rPr lang="en-US" sz="3197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PROJET DE RECHERCHE - ÉCOSYSTÈME KUBERNETES &amp; GITOPS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697605"/>
            <a:ext cx="8869394" cy="144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0"/>
              </a:lnSpc>
            </a:pPr>
            <a:r>
              <a:rPr lang="en-US" sz="6000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GITOPS AVEC ARGOCD DANS KUBERNETES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85185" y="7716883"/>
            <a:ext cx="1987445" cy="512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60"/>
              </a:lnSpc>
            </a:pPr>
            <a:r>
              <a:rPr lang="en-US" sz="3042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JUIN 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726893" y="9679262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14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DAHLVInAT_w</dc:identifier>
  <dcterms:modified xsi:type="dcterms:W3CDTF">2011-08-01T06:04:30Z</dcterms:modified>
  <cp:revision>1</cp:revision>
  <dc:title>DYSHLEVYY_BOHDAN_PROJET</dc:title>
</cp:coreProperties>
</file>